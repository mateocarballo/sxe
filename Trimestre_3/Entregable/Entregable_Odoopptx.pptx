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Nunito"/>
      <p:regular r:id="rId43"/>
      <p:bold r:id="rId44"/>
      <p:italic r:id="rId45"/>
      <p:boldItalic r:id="rId46"/>
    </p:embeddedFont>
    <p:embeddedFont>
      <p:font typeface="Maven Pro"/>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Nunito-bold.fntdata"/><Relationship Id="rId21" Type="http://schemas.openxmlformats.org/officeDocument/2006/relationships/slide" Target="slides/slide16.xml"/><Relationship Id="rId43" Type="http://schemas.openxmlformats.org/officeDocument/2006/relationships/font" Target="fonts/Nunito-regular.fntdata"/><Relationship Id="rId24" Type="http://schemas.openxmlformats.org/officeDocument/2006/relationships/slide" Target="slides/slide19.xml"/><Relationship Id="rId46" Type="http://schemas.openxmlformats.org/officeDocument/2006/relationships/font" Target="fonts/Nunito-boldItalic.fntdata"/><Relationship Id="rId23" Type="http://schemas.openxmlformats.org/officeDocument/2006/relationships/slide" Target="slides/slide18.xml"/><Relationship Id="rId45" Type="http://schemas.openxmlformats.org/officeDocument/2006/relationships/font" Target="fonts/Nuni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schemas.openxmlformats.org/officeDocument/2006/relationships/font" Target="fonts/MavenPro-bold.fntdata"/><Relationship Id="rId25" Type="http://schemas.openxmlformats.org/officeDocument/2006/relationships/slide" Target="slides/slide20.xml"/><Relationship Id="rId47" Type="http://schemas.openxmlformats.org/officeDocument/2006/relationships/font" Target="fonts/MavenPro-regular.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54ce3e965f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54ce3e965f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54ce3e965f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54ce3e965f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54ce3e965f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54ce3e965f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54ce3e965f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54ce3e965f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54ce3e965f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54ce3e965f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54ce3e965f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54ce3e965f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54e96efe6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54e96efe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55804211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55804211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54ce3e965f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54ce3e965f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558042117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558042117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54e96efe6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54e96efe6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54e96efe6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54e96efe6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54e96efe63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54e96efe6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54e96efe63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54e96efe63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54e96efe63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54e96efe63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54e96efe63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54e96efe63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54e96efe63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54e96efe63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54e96efe63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54e96efe63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54e96efe63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54e96efe63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558042117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558042117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558042117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5580421177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54ce3e965f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54ce3e965f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54e96efe6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54e96efe6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54e96efe6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54e96efe6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54e96efe63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54e96efe6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54e96efe63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54e96efe63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54ce3e965f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54ce3e965f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54ce3e965f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54ce3e965f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558042117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558042117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558042117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558042117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558042117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558042117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558042117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5580421177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54ce3e965f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54ce3e965f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558042117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558042117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5580421177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5580421177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5580421177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5580421177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mailto:info@carballobrunch.es" TargetMode="External"/><Relationship Id="rId4" Type="http://schemas.openxmlformats.org/officeDocument/2006/relationships/hyperlink" Target="http://www.carballobrunch.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
              <a:t>Implantación de una ERP.</a:t>
            </a:r>
            <a:endParaRPr/>
          </a:p>
          <a:p>
            <a:pPr indent="0" lvl="0" marL="0" rtl="0" algn="l">
              <a:spcBef>
                <a:spcPts val="0"/>
              </a:spcBef>
              <a:spcAft>
                <a:spcPts val="0"/>
              </a:spcAft>
              <a:buNone/>
            </a:pPr>
            <a:r>
              <a:rPr lang="es"/>
              <a:t>Carballo Brunch S.L.</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Mateo Carballo Alonso SXE DAM Adultos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Introducción y contexto</a:t>
            </a:r>
            <a:endParaRPr/>
          </a:p>
        </p:txBody>
      </p:sp>
      <p:sp>
        <p:nvSpPr>
          <p:cNvPr id="284" name="Google Shape;284;p1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lang="es" sz="1100">
                <a:solidFill>
                  <a:srgbClr val="000000"/>
                </a:solidFill>
                <a:latin typeface="Arial"/>
                <a:ea typeface="Arial"/>
                <a:cs typeface="Arial"/>
                <a:sym typeface="Arial"/>
              </a:rPr>
              <a:t>En esta tarea llevaremos a cabo la instalación, configuración y uso básico del ERP Odoo v17 para una empresa ficticia llamada </a:t>
            </a:r>
            <a:r>
              <a:rPr b="1" lang="es" sz="1100">
                <a:solidFill>
                  <a:srgbClr val="000000"/>
                </a:solidFill>
                <a:latin typeface="Arial"/>
                <a:ea typeface="Arial"/>
                <a:cs typeface="Arial"/>
                <a:sym typeface="Arial"/>
              </a:rPr>
              <a:t>Carballo Brunch S.L.</a:t>
            </a:r>
            <a:r>
              <a:rPr lang="es" sz="1100">
                <a:solidFill>
                  <a:srgbClr val="000000"/>
                </a:solidFill>
                <a:latin typeface="Arial"/>
                <a:ea typeface="Arial"/>
                <a:cs typeface="Arial"/>
                <a:sym typeface="Arial"/>
              </a:rPr>
              <a:t>, una cafetería especializada en brunch y café de especialidad. Utilizaremos una máquina virtual con Ubuntu y desplegaremos Odoo mediante Docker Compose, documentando cada paso del proceso.</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s" sz="1100">
                <a:solidFill>
                  <a:srgbClr val="000000"/>
                </a:solidFill>
                <a:latin typeface="Arial"/>
                <a:ea typeface="Arial"/>
                <a:cs typeface="Arial"/>
                <a:sym typeface="Arial"/>
              </a:rPr>
              <a:t>Simularemos la operativa real de la empresa: configuraremos los datos fiscales, productos (cafés, tostadas y bowls), proveedores (de alimentos, menaje y limpieza), clientes habituales y empleados. Además, realizaremos operaciones clave como emisión de facturas, presupuestos, pedidos y la instalación de los módulos necesarios (Ventas, Comercio Electrónico y Calendario), todo acompañado de capturas de pantalla y explicado paso a paso.</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Información de la empresa</a:t>
            </a:r>
            <a:endParaRPr/>
          </a:p>
        </p:txBody>
      </p:sp>
      <p:sp>
        <p:nvSpPr>
          <p:cNvPr id="290" name="Google Shape;290;p15"/>
          <p:cNvSpPr txBox="1"/>
          <p:nvPr>
            <p:ph idx="1" type="body"/>
          </p:nvPr>
        </p:nvSpPr>
        <p:spPr>
          <a:xfrm>
            <a:off x="1303800" y="1351075"/>
            <a:ext cx="7030500" cy="36948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es" sz="1700">
                <a:solidFill>
                  <a:srgbClr val="000000"/>
                </a:solidFill>
                <a:latin typeface="Arial"/>
                <a:ea typeface="Arial"/>
                <a:cs typeface="Arial"/>
                <a:sym typeface="Arial"/>
              </a:rPr>
              <a:t>A</a:t>
            </a:r>
            <a:r>
              <a:rPr b="1" lang="es" sz="1910">
                <a:solidFill>
                  <a:srgbClr val="000000"/>
                </a:solidFill>
                <a:latin typeface="Arial"/>
                <a:ea typeface="Arial"/>
                <a:cs typeface="Arial"/>
                <a:sym typeface="Arial"/>
              </a:rPr>
              <a:t>ctividad:</a:t>
            </a:r>
            <a:r>
              <a:rPr lang="es" sz="1910">
                <a:solidFill>
                  <a:srgbClr val="000000"/>
                </a:solidFill>
                <a:latin typeface="Arial"/>
                <a:ea typeface="Arial"/>
                <a:cs typeface="Arial"/>
                <a:sym typeface="Arial"/>
              </a:rPr>
              <a:t>Carballo Brunch S.L.</a:t>
            </a:r>
            <a:br>
              <a:rPr lang="es" sz="1910">
                <a:solidFill>
                  <a:srgbClr val="000000"/>
                </a:solidFill>
                <a:latin typeface="Arial"/>
                <a:ea typeface="Arial"/>
                <a:cs typeface="Arial"/>
                <a:sym typeface="Arial"/>
              </a:rPr>
            </a:br>
            <a:endParaRPr sz="1910">
              <a:solidFill>
                <a:srgbClr val="000000"/>
              </a:solidFill>
              <a:latin typeface="Arial"/>
              <a:ea typeface="Arial"/>
              <a:cs typeface="Arial"/>
              <a:sym typeface="Arial"/>
            </a:endParaRPr>
          </a:p>
          <a:p>
            <a:pPr indent="0" lvl="0" marL="0" rtl="0" algn="l">
              <a:spcBef>
                <a:spcPts val="1200"/>
              </a:spcBef>
              <a:spcAft>
                <a:spcPts val="0"/>
              </a:spcAft>
              <a:buNone/>
            </a:pPr>
            <a:r>
              <a:rPr b="1" lang="es" sz="1910">
                <a:solidFill>
                  <a:srgbClr val="000000"/>
                </a:solidFill>
                <a:latin typeface="Arial"/>
                <a:ea typeface="Arial"/>
                <a:cs typeface="Arial"/>
                <a:sym typeface="Arial"/>
              </a:rPr>
              <a:t>Ubicación:</a:t>
            </a:r>
            <a:r>
              <a:rPr lang="es" sz="1910">
                <a:solidFill>
                  <a:srgbClr val="000000"/>
                </a:solidFill>
                <a:latin typeface="Arial"/>
                <a:ea typeface="Arial"/>
                <a:cs typeface="Arial"/>
                <a:sym typeface="Arial"/>
              </a:rPr>
              <a:t> Calle Colón 155, Vigo.</a:t>
            </a:r>
            <a:br>
              <a:rPr lang="es" sz="1910">
                <a:solidFill>
                  <a:srgbClr val="000000"/>
                </a:solidFill>
                <a:latin typeface="Arial"/>
                <a:ea typeface="Arial"/>
                <a:cs typeface="Arial"/>
                <a:sym typeface="Arial"/>
              </a:rPr>
            </a:br>
            <a:endParaRPr sz="1910">
              <a:solidFill>
                <a:srgbClr val="000000"/>
              </a:solidFill>
              <a:latin typeface="Arial"/>
              <a:ea typeface="Arial"/>
              <a:cs typeface="Arial"/>
              <a:sym typeface="Arial"/>
            </a:endParaRPr>
          </a:p>
          <a:p>
            <a:pPr indent="0" lvl="0" marL="0" rtl="0" algn="l">
              <a:spcBef>
                <a:spcPts val="1200"/>
              </a:spcBef>
              <a:spcAft>
                <a:spcPts val="0"/>
              </a:spcAft>
              <a:buNone/>
            </a:pPr>
            <a:r>
              <a:rPr b="1" lang="es" sz="1910">
                <a:solidFill>
                  <a:srgbClr val="000000"/>
                </a:solidFill>
                <a:latin typeface="Arial"/>
                <a:ea typeface="Arial"/>
                <a:cs typeface="Arial"/>
                <a:sym typeface="Arial"/>
              </a:rPr>
              <a:t>NIF:</a:t>
            </a:r>
            <a:r>
              <a:rPr lang="es" sz="1910">
                <a:solidFill>
                  <a:srgbClr val="000000"/>
                </a:solidFill>
                <a:latin typeface="Arial"/>
                <a:ea typeface="Arial"/>
                <a:cs typeface="Arial"/>
                <a:sym typeface="Arial"/>
              </a:rPr>
              <a:t> B87965432</a:t>
            </a:r>
            <a:br>
              <a:rPr lang="es" sz="1910">
                <a:solidFill>
                  <a:srgbClr val="000000"/>
                </a:solidFill>
                <a:latin typeface="Arial"/>
                <a:ea typeface="Arial"/>
                <a:cs typeface="Arial"/>
                <a:sym typeface="Arial"/>
              </a:rPr>
            </a:br>
            <a:endParaRPr sz="1910">
              <a:solidFill>
                <a:srgbClr val="000000"/>
              </a:solidFill>
              <a:latin typeface="Arial"/>
              <a:ea typeface="Arial"/>
              <a:cs typeface="Arial"/>
              <a:sym typeface="Arial"/>
            </a:endParaRPr>
          </a:p>
          <a:p>
            <a:pPr indent="0" lvl="0" marL="0" rtl="0" algn="l">
              <a:spcBef>
                <a:spcPts val="1200"/>
              </a:spcBef>
              <a:spcAft>
                <a:spcPts val="0"/>
              </a:spcAft>
              <a:buNone/>
            </a:pPr>
            <a:r>
              <a:rPr b="1" lang="es" sz="1910">
                <a:solidFill>
                  <a:srgbClr val="000000"/>
                </a:solidFill>
                <a:latin typeface="Arial"/>
                <a:ea typeface="Arial"/>
                <a:cs typeface="Arial"/>
                <a:sym typeface="Arial"/>
              </a:rPr>
              <a:t>Teléfono:</a:t>
            </a:r>
            <a:r>
              <a:rPr lang="es" sz="1910">
                <a:solidFill>
                  <a:srgbClr val="000000"/>
                </a:solidFill>
                <a:latin typeface="Arial"/>
                <a:ea typeface="Arial"/>
                <a:cs typeface="Arial"/>
                <a:sym typeface="Arial"/>
              </a:rPr>
              <a:t> 910 123 456</a:t>
            </a:r>
            <a:br>
              <a:rPr lang="es" sz="1910">
                <a:solidFill>
                  <a:srgbClr val="000000"/>
                </a:solidFill>
                <a:latin typeface="Arial"/>
                <a:ea typeface="Arial"/>
                <a:cs typeface="Arial"/>
                <a:sym typeface="Arial"/>
              </a:rPr>
            </a:br>
            <a:endParaRPr sz="1910">
              <a:solidFill>
                <a:srgbClr val="000000"/>
              </a:solidFill>
              <a:latin typeface="Arial"/>
              <a:ea typeface="Arial"/>
              <a:cs typeface="Arial"/>
              <a:sym typeface="Arial"/>
            </a:endParaRPr>
          </a:p>
          <a:p>
            <a:pPr indent="0" lvl="0" marL="0" rtl="0" algn="l">
              <a:spcBef>
                <a:spcPts val="1200"/>
              </a:spcBef>
              <a:spcAft>
                <a:spcPts val="0"/>
              </a:spcAft>
              <a:buNone/>
            </a:pPr>
            <a:r>
              <a:rPr b="1" lang="es" sz="1910">
                <a:solidFill>
                  <a:srgbClr val="000000"/>
                </a:solidFill>
                <a:latin typeface="Arial"/>
                <a:ea typeface="Arial"/>
                <a:cs typeface="Arial"/>
                <a:sym typeface="Arial"/>
              </a:rPr>
              <a:t>Email:</a:t>
            </a:r>
            <a:r>
              <a:rPr lang="es" sz="1910">
                <a:solidFill>
                  <a:srgbClr val="000000"/>
                </a:solidFill>
                <a:latin typeface="Arial"/>
                <a:ea typeface="Arial"/>
                <a:cs typeface="Arial"/>
                <a:sym typeface="Arial"/>
              </a:rPr>
              <a:t> </a:t>
            </a:r>
            <a:r>
              <a:rPr lang="es" sz="1910" u="sng">
                <a:solidFill>
                  <a:schemeClr val="hlink"/>
                </a:solidFill>
                <a:latin typeface="Arial"/>
                <a:ea typeface="Arial"/>
                <a:cs typeface="Arial"/>
                <a:sym typeface="Arial"/>
                <a:hlinkClick r:id="rId3"/>
              </a:rPr>
              <a:t>info@carballobrunch.es</a:t>
            </a:r>
            <a:br>
              <a:rPr lang="es" sz="1910">
                <a:solidFill>
                  <a:srgbClr val="000000"/>
                </a:solidFill>
                <a:latin typeface="Arial"/>
                <a:ea typeface="Arial"/>
                <a:cs typeface="Arial"/>
                <a:sym typeface="Arial"/>
              </a:rPr>
            </a:br>
            <a:endParaRPr sz="1910">
              <a:solidFill>
                <a:srgbClr val="000000"/>
              </a:solidFill>
              <a:latin typeface="Arial"/>
              <a:ea typeface="Arial"/>
              <a:cs typeface="Arial"/>
              <a:sym typeface="Arial"/>
            </a:endParaRPr>
          </a:p>
          <a:p>
            <a:pPr indent="0" lvl="0" marL="0" rtl="0" algn="l">
              <a:spcBef>
                <a:spcPts val="1200"/>
              </a:spcBef>
              <a:spcAft>
                <a:spcPts val="0"/>
              </a:spcAft>
              <a:buNone/>
            </a:pPr>
            <a:r>
              <a:rPr b="1" lang="es" sz="1910">
                <a:solidFill>
                  <a:srgbClr val="000000"/>
                </a:solidFill>
                <a:latin typeface="Arial"/>
                <a:ea typeface="Arial"/>
                <a:cs typeface="Arial"/>
                <a:sym typeface="Arial"/>
              </a:rPr>
              <a:t>Sitio web:</a:t>
            </a:r>
            <a:r>
              <a:rPr lang="es" sz="1910">
                <a:solidFill>
                  <a:srgbClr val="000000"/>
                </a:solidFill>
                <a:latin typeface="Arial"/>
                <a:ea typeface="Arial"/>
                <a:cs typeface="Arial"/>
                <a:sym typeface="Arial"/>
              </a:rPr>
              <a:t> </a:t>
            </a:r>
            <a:r>
              <a:rPr lang="es" sz="1910" u="sng">
                <a:solidFill>
                  <a:schemeClr val="hlink"/>
                </a:solidFill>
                <a:latin typeface="Arial"/>
                <a:ea typeface="Arial"/>
                <a:cs typeface="Arial"/>
                <a:sym typeface="Arial"/>
                <a:hlinkClick r:id="rId4"/>
              </a:rPr>
              <a:t>www.carballobrunch.es</a:t>
            </a:r>
            <a:endParaRPr sz="1910">
              <a:solidFill>
                <a:srgbClr val="000000"/>
              </a:solidFill>
              <a:latin typeface="Arial"/>
              <a:ea typeface="Arial"/>
              <a:cs typeface="Arial"/>
              <a:sym typeface="Arial"/>
            </a:endParaRPr>
          </a:p>
          <a:p>
            <a:pPr indent="0" lvl="0" marL="0" rtl="0" algn="l">
              <a:spcBef>
                <a:spcPts val="1200"/>
              </a:spcBef>
              <a:spcAft>
                <a:spcPts val="1200"/>
              </a:spcAft>
              <a:buNone/>
            </a:pPr>
            <a:r>
              <a:t/>
            </a:r>
            <a:endParaRPr b="1" sz="195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Emisión de facturas para clientes I</a:t>
            </a:r>
            <a:endParaRPr/>
          </a:p>
        </p:txBody>
      </p:sp>
      <p:sp>
        <p:nvSpPr>
          <p:cNvPr id="296" name="Google Shape;296;p16"/>
          <p:cNvSpPr txBox="1"/>
          <p:nvPr>
            <p:ph idx="1" type="body"/>
          </p:nvPr>
        </p:nvSpPr>
        <p:spPr>
          <a:xfrm>
            <a:off x="1303800" y="1410800"/>
            <a:ext cx="7030500" cy="3501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AutoNum type="arabicPeriod"/>
            </a:pPr>
            <a:r>
              <a:rPr lang="es"/>
              <a:t>Configuración inicial de productos</a:t>
            </a:r>
            <a:endParaRPr/>
          </a:p>
          <a:p>
            <a:pPr indent="0" lvl="0" marL="0" rtl="0" algn="l">
              <a:spcBef>
                <a:spcPts val="1200"/>
              </a:spcBef>
              <a:spcAft>
                <a:spcPts val="0"/>
              </a:spcAft>
              <a:buNone/>
            </a:pPr>
            <a:r>
              <a:rPr lang="es"/>
              <a:t>	Antes de generar presupuestos, debemos asegurarnos de que todos los productos estén correctamente registrados en el sistema:</a:t>
            </a:r>
            <a:endParaRPr/>
          </a:p>
          <a:p>
            <a:pPr indent="-311150" lvl="0" marL="457200" rtl="0" algn="l">
              <a:spcBef>
                <a:spcPts val="1200"/>
              </a:spcBef>
              <a:spcAft>
                <a:spcPts val="0"/>
              </a:spcAft>
              <a:buSzPts val="1300"/>
              <a:buAutoNum type="arabicPeriod"/>
            </a:pPr>
            <a:r>
              <a:rPr lang="es"/>
              <a:t>Acceder al </a:t>
            </a:r>
            <a:r>
              <a:rPr lang="es"/>
              <a:t>módulo</a:t>
            </a:r>
            <a:r>
              <a:rPr lang="es"/>
              <a:t> del inventario:</a:t>
            </a:r>
            <a:endParaRPr/>
          </a:p>
          <a:p>
            <a:pPr indent="-298450" lvl="1" marL="914400" rtl="0" algn="l">
              <a:spcBef>
                <a:spcPts val="0"/>
              </a:spcBef>
              <a:spcAft>
                <a:spcPts val="0"/>
              </a:spcAft>
              <a:buSzPts val="1100"/>
              <a:buAutoNum type="alphaLcPeriod"/>
            </a:pPr>
            <a:r>
              <a:rPr lang="es"/>
              <a:t>Navegar a: Inventario → Productos → Productos </a:t>
            </a:r>
            <a:endParaRPr/>
          </a:p>
          <a:p>
            <a:pPr indent="-311150" lvl="0" marL="457200" rtl="0" algn="l">
              <a:spcBef>
                <a:spcPts val="0"/>
              </a:spcBef>
              <a:spcAft>
                <a:spcPts val="0"/>
              </a:spcAft>
              <a:buSzPts val="1300"/>
              <a:buAutoNum type="arabicPeriod"/>
            </a:pPr>
            <a:r>
              <a:rPr lang="es"/>
              <a:t>Crear nuevos productos:</a:t>
            </a:r>
            <a:endParaRPr/>
          </a:p>
          <a:p>
            <a:pPr indent="-298450" lvl="1" marL="914400" rtl="0" algn="l">
              <a:spcBef>
                <a:spcPts val="0"/>
              </a:spcBef>
              <a:spcAft>
                <a:spcPts val="0"/>
              </a:spcAft>
              <a:buSzPts val="1100"/>
              <a:buAutoNum type="alphaLcPeriod"/>
            </a:pPr>
            <a:r>
              <a:rPr lang="es"/>
              <a:t>Utilizaremos la </a:t>
            </a:r>
            <a:r>
              <a:rPr lang="es"/>
              <a:t>codificación</a:t>
            </a:r>
            <a:r>
              <a:rPr lang="es"/>
              <a:t> clara para identificar la categoría:</a:t>
            </a:r>
            <a:endParaRPr/>
          </a:p>
          <a:p>
            <a:pPr indent="-298450" lvl="2" marL="1371600" rtl="0" algn="l">
              <a:spcBef>
                <a:spcPts val="0"/>
              </a:spcBef>
              <a:spcAft>
                <a:spcPts val="0"/>
              </a:spcAft>
              <a:buSzPts val="1100"/>
              <a:buAutoNum type="romanLcPeriod"/>
            </a:pPr>
            <a:r>
              <a:rPr lang="es"/>
              <a:t>Códigos “CXX” para cafés (Ej: C01-Café solo)</a:t>
            </a:r>
            <a:endParaRPr/>
          </a:p>
          <a:p>
            <a:pPr indent="-298450" lvl="2" marL="1371600" rtl="0" algn="l">
              <a:spcBef>
                <a:spcPts val="0"/>
              </a:spcBef>
              <a:spcAft>
                <a:spcPts val="0"/>
              </a:spcAft>
              <a:buSzPts val="1100"/>
              <a:buAutoNum type="romanLcPeriod"/>
            </a:pPr>
            <a:r>
              <a:rPr lang="es"/>
              <a:t>Códigos “TXX” para tostadas(Ej: T01-Tostadas aceite tomate)</a:t>
            </a:r>
            <a:endParaRPr/>
          </a:p>
          <a:p>
            <a:pPr indent="-298450" lvl="1" marL="914400" rtl="0" algn="l">
              <a:spcBef>
                <a:spcPts val="0"/>
              </a:spcBef>
              <a:spcAft>
                <a:spcPts val="0"/>
              </a:spcAft>
              <a:buSzPts val="1100"/>
              <a:buAutoNum type="alphaLcPeriod"/>
            </a:pPr>
            <a:r>
              <a:rPr lang="es"/>
              <a:t>Completar cada producto de la carta:</a:t>
            </a:r>
            <a:endParaRPr/>
          </a:p>
          <a:p>
            <a:pPr indent="-298450" lvl="2" marL="1371600" rtl="0" algn="l">
              <a:spcBef>
                <a:spcPts val="0"/>
              </a:spcBef>
              <a:spcAft>
                <a:spcPts val="0"/>
              </a:spcAft>
              <a:buSzPts val="1100"/>
              <a:buAutoNum type="romanLcPeriod"/>
            </a:pPr>
            <a:r>
              <a:rPr lang="es"/>
              <a:t>Nombre de producto</a:t>
            </a:r>
            <a:endParaRPr/>
          </a:p>
          <a:p>
            <a:pPr indent="-298450" lvl="2" marL="1371600" rtl="0" algn="l">
              <a:spcBef>
                <a:spcPts val="0"/>
              </a:spcBef>
              <a:spcAft>
                <a:spcPts val="0"/>
              </a:spcAft>
              <a:buSzPts val="1100"/>
              <a:buAutoNum type="romanLcPeriod"/>
            </a:pPr>
            <a:r>
              <a:rPr lang="es"/>
              <a:t>Imagen</a:t>
            </a:r>
            <a:endParaRPr/>
          </a:p>
          <a:p>
            <a:pPr indent="-298450" lvl="2" marL="1371600" rtl="0" algn="l">
              <a:spcBef>
                <a:spcPts val="0"/>
              </a:spcBef>
              <a:spcAft>
                <a:spcPts val="0"/>
              </a:spcAft>
              <a:buSzPts val="1100"/>
              <a:buAutoNum type="romanLcPeriod"/>
            </a:pPr>
            <a:r>
              <a:rPr lang="es"/>
              <a:t>Precio de venta y </a:t>
            </a:r>
            <a:r>
              <a:rPr lang="es"/>
              <a:t>producción</a:t>
            </a:r>
            <a:endParaRPr/>
          </a:p>
          <a:p>
            <a:pPr indent="-298450" lvl="2" marL="1371600" rtl="0" algn="l">
              <a:spcBef>
                <a:spcPts val="0"/>
              </a:spcBef>
              <a:spcAft>
                <a:spcPts val="0"/>
              </a:spcAft>
              <a:buSzPts val="1100"/>
              <a:buAutoNum type="romanLcPeriod"/>
            </a:pPr>
            <a:r>
              <a:rPr lang="es"/>
              <a:t>Categoría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Emisión de facturas para clientes II</a:t>
            </a:r>
            <a:endParaRPr/>
          </a:p>
        </p:txBody>
      </p:sp>
      <p:sp>
        <p:nvSpPr>
          <p:cNvPr id="302" name="Google Shape;302;p17"/>
          <p:cNvSpPr txBox="1"/>
          <p:nvPr>
            <p:ph idx="1" type="body"/>
          </p:nvPr>
        </p:nvSpPr>
        <p:spPr>
          <a:xfrm>
            <a:off x="1303800" y="1418250"/>
            <a:ext cx="7030500" cy="33441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AutoNum type="arabicPeriod" startAt="2"/>
            </a:pPr>
            <a:r>
              <a:rPr lang="es"/>
              <a:t>Creación</a:t>
            </a:r>
            <a:r>
              <a:rPr lang="es"/>
              <a:t> del presupuesto</a:t>
            </a:r>
            <a:endParaRPr/>
          </a:p>
          <a:p>
            <a:pPr indent="0" lvl="0" marL="0" rtl="0" algn="l">
              <a:spcBef>
                <a:spcPts val="1200"/>
              </a:spcBef>
              <a:spcAft>
                <a:spcPts val="0"/>
              </a:spcAft>
              <a:buNone/>
            </a:pPr>
            <a:r>
              <a:rPr lang="es"/>
              <a:t>Caso práctico: Simularemos un pedido del cliente particular "Laura Méndez" que desea un desayuno para dos personas.</a:t>
            </a:r>
            <a:endParaRPr/>
          </a:p>
          <a:p>
            <a:pPr indent="-298450" lvl="1" marL="914400" rtl="0" algn="l">
              <a:spcBef>
                <a:spcPts val="1200"/>
              </a:spcBef>
              <a:spcAft>
                <a:spcPts val="0"/>
              </a:spcAft>
              <a:buSzPts val="1100"/>
              <a:buAutoNum type="alphaLcPeriod"/>
            </a:pPr>
            <a:r>
              <a:rPr lang="es"/>
              <a:t>Acceder al módulo de Ventas:</a:t>
            </a:r>
            <a:endParaRPr/>
          </a:p>
          <a:p>
            <a:pPr indent="-298450" lvl="2" marL="1371600" rtl="0" algn="l">
              <a:spcBef>
                <a:spcPts val="0"/>
              </a:spcBef>
              <a:spcAft>
                <a:spcPts val="0"/>
              </a:spcAft>
              <a:buSzPts val="1100"/>
              <a:buAutoNum type="romanLcPeriod"/>
            </a:pPr>
            <a:r>
              <a:rPr lang="es"/>
              <a:t>Navegar a: Ventas → Presupuestos → Crear</a:t>
            </a:r>
            <a:endParaRPr/>
          </a:p>
          <a:p>
            <a:pPr indent="-298450" lvl="1" marL="914400" rtl="0" algn="l">
              <a:spcBef>
                <a:spcPts val="0"/>
              </a:spcBef>
              <a:spcAft>
                <a:spcPts val="0"/>
              </a:spcAft>
              <a:buSzPts val="1100"/>
              <a:buAutoNum type="alphaLcPeriod"/>
            </a:pPr>
            <a:r>
              <a:rPr lang="es"/>
              <a:t>Seleccionar cliente:</a:t>
            </a:r>
            <a:endParaRPr/>
          </a:p>
          <a:p>
            <a:pPr indent="-298450" lvl="2" marL="1371600" rtl="0" algn="l">
              <a:spcBef>
                <a:spcPts val="0"/>
              </a:spcBef>
              <a:spcAft>
                <a:spcPts val="0"/>
              </a:spcAft>
              <a:buSzPts val="1100"/>
              <a:buAutoNum type="romanLcPeriod"/>
            </a:pPr>
            <a:r>
              <a:rPr lang="es"/>
              <a:t>Buscar cliente existente o crear uno nuevo con sus datos completos</a:t>
            </a:r>
            <a:endParaRPr/>
          </a:p>
          <a:p>
            <a:pPr indent="-298450" lvl="1" marL="914400" rtl="0" algn="l">
              <a:spcBef>
                <a:spcPts val="0"/>
              </a:spcBef>
              <a:spcAft>
                <a:spcPts val="0"/>
              </a:spcAft>
              <a:buSzPts val="1100"/>
              <a:buAutoNum type="alphaLcPeriod"/>
            </a:pPr>
            <a:r>
              <a:rPr lang="es"/>
              <a:t>Añadir productos:</a:t>
            </a:r>
            <a:endParaRPr/>
          </a:p>
          <a:p>
            <a:pPr indent="-298450" lvl="2" marL="1371600" rtl="0" algn="l">
              <a:spcBef>
                <a:spcPts val="0"/>
              </a:spcBef>
              <a:spcAft>
                <a:spcPts val="0"/>
              </a:spcAft>
              <a:buSzPts val="1100"/>
              <a:buAutoNum type="romanLcPeriod"/>
            </a:pPr>
            <a:r>
              <a:rPr lang="es"/>
              <a:t>Opción A: Seleccionar productos ya creados desde el catálogo</a:t>
            </a:r>
            <a:endParaRPr/>
          </a:p>
          <a:p>
            <a:pPr indent="-298450" lvl="2" marL="1371600" rtl="0" algn="l">
              <a:spcBef>
                <a:spcPts val="0"/>
              </a:spcBef>
              <a:spcAft>
                <a:spcPts val="0"/>
              </a:spcAft>
              <a:buSzPts val="1100"/>
              <a:buAutoNum type="romanLcPeriod"/>
            </a:pPr>
            <a:r>
              <a:rPr lang="es"/>
              <a:t>Opción B: Crear productos directamente en el presupuesto (útil para ofertas temporales)</a:t>
            </a:r>
            <a:endParaRPr/>
          </a:p>
          <a:p>
            <a:pPr indent="-298450" lvl="1" marL="914400" rtl="0" algn="l">
              <a:spcBef>
                <a:spcPts val="0"/>
              </a:spcBef>
              <a:spcAft>
                <a:spcPts val="0"/>
              </a:spcAft>
              <a:buSzPts val="1100"/>
              <a:buAutoNum type="alphaLcPeriod"/>
            </a:pPr>
            <a:r>
              <a:rPr lang="es"/>
              <a:t>Añadir observaciones:</a:t>
            </a:r>
            <a:endParaRPr/>
          </a:p>
          <a:p>
            <a:pPr indent="-298450" lvl="2" marL="1371600" rtl="0" algn="l">
              <a:spcBef>
                <a:spcPts val="0"/>
              </a:spcBef>
              <a:spcAft>
                <a:spcPts val="0"/>
              </a:spcAft>
              <a:buSzPts val="1100"/>
              <a:buAutoNum type="romanLcPeriod"/>
            </a:pPr>
            <a:r>
              <a:rPr lang="es"/>
              <a:t>Especificar preferencias del cliente (Ej: "Sin gluten", "Café con canela")</a:t>
            </a:r>
            <a:endParaRPr/>
          </a:p>
          <a:p>
            <a:pPr indent="-298450" lvl="1" marL="914400" rtl="0" algn="l">
              <a:spcBef>
                <a:spcPts val="0"/>
              </a:spcBef>
              <a:spcAft>
                <a:spcPts val="0"/>
              </a:spcAft>
              <a:buSzPts val="1100"/>
              <a:buAutoNum type="alphaLcPeriod"/>
            </a:pPr>
            <a:r>
              <a:rPr lang="es"/>
              <a:t>Configurar detalles del pedido:</a:t>
            </a:r>
            <a:endParaRPr/>
          </a:p>
          <a:p>
            <a:pPr indent="-298450" lvl="2" marL="1371600" rtl="0" algn="l">
              <a:spcBef>
                <a:spcPts val="0"/>
              </a:spcBef>
              <a:spcAft>
                <a:spcPts val="0"/>
              </a:spcAft>
              <a:buSzPts val="1100"/>
              <a:buAutoNum type="romanLcPeriod"/>
            </a:pPr>
            <a:r>
              <a:rPr lang="es"/>
              <a:t>Fecha de validez del presupuesto</a:t>
            </a:r>
            <a:endParaRPr/>
          </a:p>
          <a:p>
            <a:pPr indent="-298450" lvl="2" marL="1371600" rtl="0" algn="l">
              <a:spcBef>
                <a:spcPts val="0"/>
              </a:spcBef>
              <a:spcAft>
                <a:spcPts val="0"/>
              </a:spcAft>
              <a:buSzPts val="1100"/>
              <a:buAutoNum type="romanLcPeriod"/>
            </a:pPr>
            <a:r>
              <a:rPr lang="es"/>
              <a:t>Método de entrega (en local/para llevar)</a:t>
            </a:r>
            <a:endParaRPr/>
          </a:p>
          <a:p>
            <a:pPr indent="-298450" lvl="2" marL="1371600" rtl="0" algn="l">
              <a:spcBef>
                <a:spcPts val="0"/>
              </a:spcBef>
              <a:spcAft>
                <a:spcPts val="0"/>
              </a:spcAft>
              <a:buSzPts val="1100"/>
              <a:buAutoNum type="romanLcPeriod"/>
            </a:pPr>
            <a:r>
              <a:rPr lang="es"/>
              <a:t>Forma de pago (efectivo/tarjeta)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Emisión de facturas para clientes III</a:t>
            </a:r>
            <a:endParaRPr/>
          </a:p>
        </p:txBody>
      </p:sp>
      <p:sp>
        <p:nvSpPr>
          <p:cNvPr id="308" name="Google Shape;308;p18"/>
          <p:cNvSpPr txBox="1"/>
          <p:nvPr>
            <p:ph idx="1" type="body"/>
          </p:nvPr>
        </p:nvSpPr>
        <p:spPr>
          <a:xfrm>
            <a:off x="1303800" y="1418250"/>
            <a:ext cx="7030500" cy="3725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AutoNum type="arabicPeriod" startAt="3"/>
            </a:pPr>
            <a:r>
              <a:rPr lang="es"/>
              <a:t>Envío al Cliente</a:t>
            </a:r>
            <a:endParaRPr/>
          </a:p>
          <a:p>
            <a:pPr indent="-298450" lvl="1" marL="914400" rtl="0" algn="l">
              <a:spcBef>
                <a:spcPts val="0"/>
              </a:spcBef>
              <a:spcAft>
                <a:spcPts val="0"/>
              </a:spcAft>
              <a:buSzPts val="1100"/>
              <a:buAutoNum type="alphaLcPeriod"/>
            </a:pPr>
            <a:r>
              <a:rPr lang="es"/>
              <a:t>Generar PDF con el diseño corporativo</a:t>
            </a:r>
            <a:endParaRPr/>
          </a:p>
          <a:p>
            <a:pPr indent="-298450" lvl="1" marL="914400" rtl="0" algn="l">
              <a:spcBef>
                <a:spcPts val="0"/>
              </a:spcBef>
              <a:spcAft>
                <a:spcPts val="0"/>
              </a:spcAft>
              <a:buSzPts val="1100"/>
              <a:buAutoNum type="alphaLcPeriod"/>
            </a:pPr>
            <a:r>
              <a:rPr lang="es"/>
              <a:t>Enviar directamente desde Odoo por email</a:t>
            </a:r>
            <a:endParaRPr/>
          </a:p>
          <a:p>
            <a:pPr indent="-298450" lvl="1" marL="914400" rtl="0" algn="l">
              <a:spcBef>
                <a:spcPts val="0"/>
              </a:spcBef>
              <a:spcAft>
                <a:spcPts val="0"/>
              </a:spcAft>
              <a:buSzPts val="1100"/>
              <a:buAutoNum type="alphaLcPeriod"/>
            </a:pPr>
            <a:r>
              <a:rPr lang="es"/>
              <a:t>Opción de imprimir copia física</a:t>
            </a:r>
            <a:endParaRPr/>
          </a:p>
          <a:p>
            <a:pPr indent="-311150" lvl="0" marL="457200" rtl="0" algn="l">
              <a:spcBef>
                <a:spcPts val="0"/>
              </a:spcBef>
              <a:spcAft>
                <a:spcPts val="0"/>
              </a:spcAft>
              <a:buSzPts val="1300"/>
              <a:buAutoNum type="arabicPeriod" startAt="3"/>
            </a:pPr>
            <a:r>
              <a:rPr lang="es"/>
              <a:t>Seguimiento</a:t>
            </a:r>
            <a:endParaRPr/>
          </a:p>
          <a:p>
            <a:pPr indent="-298450" lvl="1" marL="914400" rtl="0" algn="l">
              <a:spcBef>
                <a:spcPts val="0"/>
              </a:spcBef>
              <a:spcAft>
                <a:spcPts val="0"/>
              </a:spcAft>
              <a:buSzPts val="1100"/>
              <a:buAutoNum type="alphaLcPeriod"/>
            </a:pPr>
            <a:r>
              <a:rPr lang="es"/>
              <a:t>El sistema registrará </a:t>
            </a:r>
            <a:r>
              <a:rPr lang="es"/>
              <a:t>automáticamente</a:t>
            </a:r>
            <a:endParaRPr/>
          </a:p>
          <a:p>
            <a:pPr indent="-298450" lvl="2" marL="1371600" rtl="0" algn="l">
              <a:spcBef>
                <a:spcPts val="0"/>
              </a:spcBef>
              <a:spcAft>
                <a:spcPts val="0"/>
              </a:spcAft>
              <a:buSzPts val="1100"/>
              <a:buAutoNum type="romanLcPeriod"/>
            </a:pPr>
            <a:r>
              <a:rPr lang="es"/>
              <a:t>Historial de comunicación.</a:t>
            </a:r>
            <a:endParaRPr/>
          </a:p>
          <a:p>
            <a:pPr indent="-298450" lvl="2" marL="1371600" rtl="0" algn="l">
              <a:spcBef>
                <a:spcPts val="0"/>
              </a:spcBef>
              <a:spcAft>
                <a:spcPts val="0"/>
              </a:spcAft>
              <a:buSzPts val="1100"/>
              <a:buAutoNum type="romanLcPeriod"/>
            </a:pPr>
            <a:r>
              <a:rPr lang="es"/>
              <a:t>Estado del presupuesto(pendiente/aceptado/rechazado)</a:t>
            </a:r>
            <a:endParaRPr/>
          </a:p>
          <a:p>
            <a:pPr indent="-298450" lvl="2" marL="1371600" rtl="0" algn="l">
              <a:spcBef>
                <a:spcPts val="0"/>
              </a:spcBef>
              <a:spcAft>
                <a:spcPts val="0"/>
              </a:spcAft>
              <a:buSzPts val="1100"/>
              <a:buAutoNum type="romanLcPeriod"/>
            </a:pPr>
            <a:r>
              <a:rPr lang="es"/>
              <a:t>Posibilidad de convertirlo en pedido confirmado</a:t>
            </a:r>
            <a:endParaRPr/>
          </a:p>
          <a:p>
            <a:pPr indent="0" lvl="0" marL="91440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Emisión de facturas para clientes IV</a:t>
            </a:r>
            <a:endParaRPr/>
          </a:p>
        </p:txBody>
      </p:sp>
      <p:pic>
        <p:nvPicPr>
          <p:cNvPr id="314" name="Google Shape;314;p19" title="Productos_creados.png"/>
          <p:cNvPicPr preferRelativeResize="0"/>
          <p:nvPr/>
        </p:nvPicPr>
        <p:blipFill>
          <a:blip r:embed="rId3">
            <a:alphaModFix/>
          </a:blip>
          <a:stretch>
            <a:fillRect/>
          </a:stretch>
        </p:blipFill>
        <p:spPr>
          <a:xfrm>
            <a:off x="1037763" y="1399425"/>
            <a:ext cx="7068466" cy="3744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0"/>
          <p:cNvSpPr txBox="1"/>
          <p:nvPr>
            <p:ph type="title"/>
          </p:nvPr>
        </p:nvSpPr>
        <p:spPr>
          <a:xfrm>
            <a:off x="1264600" y="5789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Emisión de facturas para clientes V</a:t>
            </a:r>
            <a:endParaRPr/>
          </a:p>
        </p:txBody>
      </p:sp>
      <p:pic>
        <p:nvPicPr>
          <p:cNvPr id="320" name="Google Shape;320;p20" title="Creacion de producto.png"/>
          <p:cNvPicPr preferRelativeResize="0"/>
          <p:nvPr/>
        </p:nvPicPr>
        <p:blipFill>
          <a:blip r:embed="rId3">
            <a:alphaModFix/>
          </a:blip>
          <a:stretch>
            <a:fillRect/>
          </a:stretch>
        </p:blipFill>
        <p:spPr>
          <a:xfrm>
            <a:off x="1091375" y="1456225"/>
            <a:ext cx="6961248" cy="36872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Emisión de facturas para clientes VII</a:t>
            </a:r>
            <a:endParaRPr/>
          </a:p>
        </p:txBody>
      </p:sp>
      <p:pic>
        <p:nvPicPr>
          <p:cNvPr id="326" name="Google Shape;326;p21" title="Productos_modificar_tpv_solo_venta.png"/>
          <p:cNvPicPr preferRelativeResize="0"/>
          <p:nvPr/>
        </p:nvPicPr>
        <p:blipFill>
          <a:blip r:embed="rId3">
            <a:alphaModFix/>
          </a:blip>
          <a:stretch>
            <a:fillRect/>
          </a:stretch>
        </p:blipFill>
        <p:spPr>
          <a:xfrm>
            <a:off x="723463" y="1373275"/>
            <a:ext cx="7697074" cy="37299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Emisión de facturas para clientes VI</a:t>
            </a:r>
            <a:endParaRPr/>
          </a:p>
        </p:txBody>
      </p:sp>
      <p:pic>
        <p:nvPicPr>
          <p:cNvPr id="332" name="Google Shape;332;p22" title="Presupuesto.png"/>
          <p:cNvPicPr preferRelativeResize="0"/>
          <p:nvPr/>
        </p:nvPicPr>
        <p:blipFill>
          <a:blip r:embed="rId3">
            <a:alphaModFix/>
          </a:blip>
          <a:stretch>
            <a:fillRect/>
          </a:stretch>
        </p:blipFill>
        <p:spPr>
          <a:xfrm>
            <a:off x="1114724" y="1354675"/>
            <a:ext cx="6914573" cy="3662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Emisión de facturas para clientes VII</a:t>
            </a:r>
            <a:endParaRPr/>
          </a:p>
        </p:txBody>
      </p:sp>
      <p:sp>
        <p:nvSpPr>
          <p:cNvPr id="338" name="Google Shape;338;p23"/>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En resumen, creamos los productos, cada producto define su nombre, una imagen descriptiva, si puede ser vendido, comprado o ambos , además de otros aspectos </a:t>
            </a:r>
            <a:r>
              <a:rPr lang="es"/>
              <a:t>básicos</a:t>
            </a:r>
            <a:r>
              <a:rPr lang="es"/>
              <a:t> como su nombre, precio, coste, precio de venta e impuestos que deberemos pagar por él.</a:t>
            </a:r>
            <a:endParaRPr/>
          </a:p>
          <a:p>
            <a:pPr indent="0" lvl="0" marL="0" rtl="0" algn="l">
              <a:spcBef>
                <a:spcPts val="1200"/>
              </a:spcBef>
              <a:spcAft>
                <a:spcPts val="1200"/>
              </a:spcAft>
              <a:buNone/>
            </a:pPr>
            <a:r>
              <a:rPr lang="es"/>
              <a:t>También podremos definir si estos productos van a estar disponibles desde el TPV(punto de venta desde el </a:t>
            </a:r>
            <a:r>
              <a:rPr lang="es"/>
              <a:t>menú</a:t>
            </a:r>
            <a:r>
              <a:rPr lang="es"/>
              <a:t> de odoo arriba a la izquierda).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Emisión de facturas para clientes VII</a:t>
            </a:r>
            <a:endParaRPr/>
          </a:p>
        </p:txBody>
      </p:sp>
      <p:sp>
        <p:nvSpPr>
          <p:cNvPr id="344" name="Google Shape;344;p2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Las capturas  anteriores vienen a representar todo lo que comentamos en los puntos I a III de la presentación. Es decir toda la parte del registro de productos. En los siguientes pasos veremos capturas de como crear un presupuesto, como validarlo y como confirmar que la factura ha sido pagada, además de incorporar las facturas pagadas a nuestro proveedores.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Emisión de facturas para clientes VIII</a:t>
            </a:r>
            <a:endParaRPr/>
          </a:p>
        </p:txBody>
      </p:sp>
      <p:pic>
        <p:nvPicPr>
          <p:cNvPr id="350" name="Google Shape;350;p25" title="Presupuesto.png"/>
          <p:cNvPicPr preferRelativeResize="0"/>
          <p:nvPr/>
        </p:nvPicPr>
        <p:blipFill>
          <a:blip r:embed="rId3">
            <a:alphaModFix/>
          </a:blip>
          <a:stretch>
            <a:fillRect/>
          </a:stretch>
        </p:blipFill>
        <p:spPr>
          <a:xfrm>
            <a:off x="1056750" y="1257359"/>
            <a:ext cx="7030502" cy="372396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Emisión de facturas para clientes IX</a:t>
            </a:r>
            <a:endParaRPr/>
          </a:p>
        </p:txBody>
      </p:sp>
      <p:pic>
        <p:nvPicPr>
          <p:cNvPr id="356" name="Google Shape;356;p26" title="Presupuesto_2.png"/>
          <p:cNvPicPr preferRelativeResize="0"/>
          <p:nvPr/>
        </p:nvPicPr>
        <p:blipFill>
          <a:blip r:embed="rId3">
            <a:alphaModFix/>
          </a:blip>
          <a:stretch>
            <a:fillRect/>
          </a:stretch>
        </p:blipFill>
        <p:spPr>
          <a:xfrm>
            <a:off x="1056750" y="1316109"/>
            <a:ext cx="7030498" cy="372396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Emisión de facturas para clientes X</a:t>
            </a:r>
            <a:endParaRPr/>
          </a:p>
        </p:txBody>
      </p:sp>
      <p:pic>
        <p:nvPicPr>
          <p:cNvPr id="362" name="Google Shape;362;p27" title="Presupuesto_5_Pedido completado.png"/>
          <p:cNvPicPr preferRelativeResize="0"/>
          <p:nvPr/>
        </p:nvPicPr>
        <p:blipFill>
          <a:blip r:embed="rId3">
            <a:alphaModFix/>
          </a:blip>
          <a:stretch>
            <a:fillRect/>
          </a:stretch>
        </p:blipFill>
        <p:spPr>
          <a:xfrm>
            <a:off x="1342800" y="1298650"/>
            <a:ext cx="6952502" cy="36826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Emisión de facturas para clientes XI</a:t>
            </a:r>
            <a:endParaRPr/>
          </a:p>
        </p:txBody>
      </p:sp>
      <p:pic>
        <p:nvPicPr>
          <p:cNvPr id="368" name="Google Shape;368;p28" title="Factura_1.png"/>
          <p:cNvPicPr preferRelativeResize="0"/>
          <p:nvPr/>
        </p:nvPicPr>
        <p:blipFill>
          <a:blip r:embed="rId3">
            <a:alphaModFix/>
          </a:blip>
          <a:stretch>
            <a:fillRect/>
          </a:stretch>
        </p:blipFill>
        <p:spPr>
          <a:xfrm>
            <a:off x="983088" y="1233950"/>
            <a:ext cx="7177824" cy="3757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Emisión de facturas para clientes XII</a:t>
            </a:r>
            <a:endParaRPr/>
          </a:p>
        </p:txBody>
      </p:sp>
      <p:pic>
        <p:nvPicPr>
          <p:cNvPr id="374" name="Google Shape;374;p29" title="Factura_2.png"/>
          <p:cNvPicPr preferRelativeResize="0"/>
          <p:nvPr/>
        </p:nvPicPr>
        <p:blipFill>
          <a:blip r:embed="rId3">
            <a:alphaModFix/>
          </a:blip>
          <a:stretch>
            <a:fillRect/>
          </a:stretch>
        </p:blipFill>
        <p:spPr>
          <a:xfrm>
            <a:off x="1056750" y="1311071"/>
            <a:ext cx="7030498" cy="368002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Emisión de facturas para clientes XIII</a:t>
            </a:r>
            <a:endParaRPr/>
          </a:p>
        </p:txBody>
      </p:sp>
      <p:pic>
        <p:nvPicPr>
          <p:cNvPr id="380" name="Google Shape;380;p30" title="Factura_3.png"/>
          <p:cNvPicPr preferRelativeResize="0"/>
          <p:nvPr/>
        </p:nvPicPr>
        <p:blipFill>
          <a:blip r:embed="rId3">
            <a:alphaModFix/>
          </a:blip>
          <a:stretch>
            <a:fillRect/>
          </a:stretch>
        </p:blipFill>
        <p:spPr>
          <a:xfrm>
            <a:off x="1303800" y="1291496"/>
            <a:ext cx="7030502" cy="368002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Emisión de facturas para clientes XIV</a:t>
            </a:r>
            <a:endParaRPr/>
          </a:p>
        </p:txBody>
      </p:sp>
      <p:pic>
        <p:nvPicPr>
          <p:cNvPr id="386" name="Google Shape;386;p31" title="Factura_4.png"/>
          <p:cNvPicPr preferRelativeResize="0"/>
          <p:nvPr/>
        </p:nvPicPr>
        <p:blipFill>
          <a:blip r:embed="rId3">
            <a:alphaModFix/>
          </a:blip>
          <a:stretch>
            <a:fillRect/>
          </a:stretch>
        </p:blipFill>
        <p:spPr>
          <a:xfrm>
            <a:off x="1056750" y="1320871"/>
            <a:ext cx="7030502" cy="368002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Emisión de facturas para clientes XV</a:t>
            </a:r>
            <a:endParaRPr/>
          </a:p>
        </p:txBody>
      </p:sp>
      <p:pic>
        <p:nvPicPr>
          <p:cNvPr id="392" name="Google Shape;392;p32" title="Factura_5.png"/>
          <p:cNvPicPr preferRelativeResize="0"/>
          <p:nvPr/>
        </p:nvPicPr>
        <p:blipFill>
          <a:blip r:embed="rId3">
            <a:alphaModFix/>
          </a:blip>
          <a:stretch>
            <a:fillRect/>
          </a:stretch>
        </p:blipFill>
        <p:spPr>
          <a:xfrm>
            <a:off x="1056750" y="1291471"/>
            <a:ext cx="7030502" cy="368002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3"/>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Emisión de facturas pagadas a proveedores I</a:t>
            </a:r>
            <a:endParaRPr/>
          </a:p>
        </p:txBody>
      </p:sp>
      <p:pic>
        <p:nvPicPr>
          <p:cNvPr id="398" name="Google Shape;398;p33" title="factura_proveedor_1.png"/>
          <p:cNvPicPr preferRelativeResize="0"/>
          <p:nvPr/>
        </p:nvPicPr>
        <p:blipFill>
          <a:blip r:embed="rId3">
            <a:alphaModFix/>
          </a:blip>
          <a:stretch>
            <a:fillRect/>
          </a:stretch>
        </p:blipFill>
        <p:spPr>
          <a:xfrm>
            <a:off x="1228138" y="1597875"/>
            <a:ext cx="6687735" cy="32408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34"/>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Emisión de facturas pagadas a proveedores II</a:t>
            </a:r>
            <a:endParaRPr/>
          </a:p>
        </p:txBody>
      </p:sp>
      <p:pic>
        <p:nvPicPr>
          <p:cNvPr id="404" name="Google Shape;404;p34" title="factura_proveedor_2.png"/>
          <p:cNvPicPr preferRelativeResize="0"/>
          <p:nvPr/>
        </p:nvPicPr>
        <p:blipFill>
          <a:blip r:embed="rId3">
            <a:alphaModFix/>
          </a:blip>
          <a:stretch>
            <a:fillRect/>
          </a:stretch>
        </p:blipFill>
        <p:spPr>
          <a:xfrm>
            <a:off x="1808338" y="1597875"/>
            <a:ext cx="5527316" cy="32408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Alta de empleados I</a:t>
            </a:r>
            <a:endParaRPr/>
          </a:p>
        </p:txBody>
      </p:sp>
      <p:sp>
        <p:nvSpPr>
          <p:cNvPr id="410" name="Google Shape;410;p35"/>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En esta empresa tenemos tres empleados. Una persona en cocina, otra en la sala atendiendo las mesas y un barista que trabajará detrás de la barra dando servicio al camarero de la sala. Entonces los </a:t>
            </a:r>
            <a:r>
              <a:rPr lang="es"/>
              <a:t>registramos</a:t>
            </a:r>
            <a:r>
              <a:rPr lang="es"/>
              <a:t> a todos en el sistema y todos ellos </a:t>
            </a:r>
            <a:r>
              <a:rPr lang="es"/>
              <a:t>dependen</a:t>
            </a:r>
            <a:r>
              <a:rPr lang="es"/>
              <a:t> del administrador que es el propietario de la empresa(la empresa misma).</a:t>
            </a:r>
            <a:endParaRPr/>
          </a:p>
          <a:p>
            <a:pPr indent="0" lvl="0" marL="0" rtl="0" algn="l">
              <a:spcBef>
                <a:spcPts val="1200"/>
              </a:spcBef>
              <a:spcAft>
                <a:spcPts val="1200"/>
              </a:spcAft>
              <a:buNone/>
            </a:pPr>
            <a:r>
              <a:rPr lang="es"/>
              <a:t>En las siguientes capturas podemos ver como se realiza este proceso desde odoo.</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Alta de empleados II</a:t>
            </a:r>
            <a:endParaRPr/>
          </a:p>
        </p:txBody>
      </p:sp>
      <p:pic>
        <p:nvPicPr>
          <p:cNvPr id="416" name="Google Shape;416;p36" title="Creacion_Empleado_1.png"/>
          <p:cNvPicPr preferRelativeResize="0"/>
          <p:nvPr/>
        </p:nvPicPr>
        <p:blipFill>
          <a:blip r:embed="rId3">
            <a:alphaModFix/>
          </a:blip>
          <a:stretch>
            <a:fillRect/>
          </a:stretch>
        </p:blipFill>
        <p:spPr>
          <a:xfrm>
            <a:off x="767563" y="1542075"/>
            <a:ext cx="7608874" cy="360142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Alta de empleados II</a:t>
            </a:r>
            <a:endParaRPr/>
          </a:p>
        </p:txBody>
      </p:sp>
      <p:pic>
        <p:nvPicPr>
          <p:cNvPr id="422" name="Google Shape;422;p37" title="Creacion_Empleado_2.png"/>
          <p:cNvPicPr preferRelativeResize="0"/>
          <p:nvPr/>
        </p:nvPicPr>
        <p:blipFill>
          <a:blip r:embed="rId3">
            <a:alphaModFix/>
          </a:blip>
          <a:stretch>
            <a:fillRect/>
          </a:stretch>
        </p:blipFill>
        <p:spPr>
          <a:xfrm>
            <a:off x="1056750" y="1419534"/>
            <a:ext cx="7030498" cy="372396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Alta de empleados II</a:t>
            </a:r>
            <a:endParaRPr/>
          </a:p>
        </p:txBody>
      </p:sp>
      <p:pic>
        <p:nvPicPr>
          <p:cNvPr id="428" name="Google Shape;428;p38" title="Creacion_Empleados_3.png"/>
          <p:cNvPicPr preferRelativeResize="0"/>
          <p:nvPr/>
        </p:nvPicPr>
        <p:blipFill>
          <a:blip r:embed="rId3">
            <a:alphaModFix/>
          </a:blip>
          <a:stretch>
            <a:fillRect/>
          </a:stretch>
        </p:blipFill>
        <p:spPr>
          <a:xfrm>
            <a:off x="885113" y="1283800"/>
            <a:ext cx="7373774" cy="38597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Alta de empleados (Organigrama) </a:t>
            </a:r>
            <a:endParaRPr/>
          </a:p>
        </p:txBody>
      </p:sp>
      <p:pic>
        <p:nvPicPr>
          <p:cNvPr id="434" name="Google Shape;434;p39" title="Organigrama_Empleados.png"/>
          <p:cNvPicPr preferRelativeResize="0"/>
          <p:nvPr/>
        </p:nvPicPr>
        <p:blipFill>
          <a:blip r:embed="rId3">
            <a:alphaModFix/>
          </a:blip>
          <a:stretch>
            <a:fillRect/>
          </a:stretch>
        </p:blipFill>
        <p:spPr>
          <a:xfrm>
            <a:off x="978175" y="1336300"/>
            <a:ext cx="7187626" cy="38072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Instalar módulo de ventas</a:t>
            </a:r>
            <a:endParaRPr/>
          </a:p>
        </p:txBody>
      </p:sp>
      <p:sp>
        <p:nvSpPr>
          <p:cNvPr id="440" name="Google Shape;440;p40"/>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41" name="Google Shape;441;p40" title="Instalacion punto de venta 0.png"/>
          <p:cNvPicPr preferRelativeResize="0"/>
          <p:nvPr/>
        </p:nvPicPr>
        <p:blipFill>
          <a:blip r:embed="rId3">
            <a:alphaModFix/>
          </a:blip>
          <a:stretch>
            <a:fillRect/>
          </a:stretch>
        </p:blipFill>
        <p:spPr>
          <a:xfrm>
            <a:off x="759625" y="1383924"/>
            <a:ext cx="7266224" cy="37538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Instalar módulo de comercio electrónico</a:t>
            </a:r>
            <a:endParaRPr/>
          </a:p>
        </p:txBody>
      </p:sp>
      <p:sp>
        <p:nvSpPr>
          <p:cNvPr id="447" name="Google Shape;447;p41"/>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448" name="Google Shape;448;p41" title="Instalacion punto de venta 0.png"/>
          <p:cNvPicPr preferRelativeResize="0"/>
          <p:nvPr/>
        </p:nvPicPr>
        <p:blipFill>
          <a:blip r:embed="rId3">
            <a:alphaModFix/>
          </a:blip>
          <a:stretch>
            <a:fillRect/>
          </a:stretch>
        </p:blipFill>
        <p:spPr>
          <a:xfrm>
            <a:off x="1209763" y="1260374"/>
            <a:ext cx="7218576" cy="372924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Instalar módulo de comercio electrónico</a:t>
            </a:r>
            <a:endParaRPr/>
          </a:p>
        </p:txBody>
      </p:sp>
      <p:pic>
        <p:nvPicPr>
          <p:cNvPr id="454" name="Google Shape;454;p42" title="Modulo_Comercio_Electronico.png"/>
          <p:cNvPicPr preferRelativeResize="0"/>
          <p:nvPr/>
        </p:nvPicPr>
        <p:blipFill>
          <a:blip r:embed="rId3">
            <a:alphaModFix/>
          </a:blip>
          <a:stretch>
            <a:fillRect/>
          </a:stretch>
        </p:blipFill>
        <p:spPr>
          <a:xfrm>
            <a:off x="1512813" y="1597875"/>
            <a:ext cx="6118373" cy="324082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Instalar módulo de comercio electrónico</a:t>
            </a:r>
            <a:endParaRPr/>
          </a:p>
        </p:txBody>
      </p:sp>
      <p:pic>
        <p:nvPicPr>
          <p:cNvPr id="460" name="Google Shape;460;p43" title="Comercio_Online.png"/>
          <p:cNvPicPr preferRelativeResize="0"/>
          <p:nvPr/>
        </p:nvPicPr>
        <p:blipFill>
          <a:blip r:embed="rId3">
            <a:alphaModFix/>
          </a:blip>
          <a:stretch>
            <a:fillRect/>
          </a:stretch>
        </p:blipFill>
        <p:spPr>
          <a:xfrm>
            <a:off x="1303800" y="1485050"/>
            <a:ext cx="6273174" cy="324082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Instalar módulo de comercio electrónico</a:t>
            </a:r>
            <a:endParaRPr/>
          </a:p>
        </p:txBody>
      </p:sp>
      <p:pic>
        <p:nvPicPr>
          <p:cNvPr id="466" name="Google Shape;466;p44" title="Comercio_online_2.png"/>
          <p:cNvPicPr preferRelativeResize="0"/>
          <p:nvPr/>
        </p:nvPicPr>
        <p:blipFill>
          <a:blip r:embed="rId3">
            <a:alphaModFix/>
          </a:blip>
          <a:stretch>
            <a:fillRect/>
          </a:stretch>
        </p:blipFill>
        <p:spPr>
          <a:xfrm>
            <a:off x="1228138" y="1597875"/>
            <a:ext cx="6687735" cy="324082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Instalar módulo de comercio electrónico</a:t>
            </a:r>
            <a:endParaRPr/>
          </a:p>
        </p:txBody>
      </p:sp>
      <p:sp>
        <p:nvSpPr>
          <p:cNvPr id="472" name="Google Shape;472;p45"/>
          <p:cNvSpPr txBox="1"/>
          <p:nvPr>
            <p:ph idx="1" type="body"/>
          </p:nvPr>
        </p:nvSpPr>
        <p:spPr>
          <a:xfrm>
            <a:off x="1303800" y="1642500"/>
            <a:ext cx="7030500" cy="2889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Como podemos ver, vamos a nuestro sitio web y podemos acceder al comercio electronico. Desde ahi aparecerán los productos que podemos comprar desde la web. En mi caso al ser una cafeteria solo podremos comprar merchandising de la compañia. Por eso aparece el logo de la empresa en un poster. Para poder activar los podructos disponibles tenems que entrar en la pagina (desde odoo) pinchar en el producto y nos aparecera un boton deslizable en la parte superior para activarlo y descativarlo.  Si el producto está visible aparecerá en color verde y con la palabra “publicado” a su lado.</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46"/>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Instalar módulo de ventas I</a:t>
            </a:r>
            <a:endParaRPr/>
          </a:p>
          <a:p>
            <a:pPr indent="0" lvl="0" marL="0" rtl="0" algn="l">
              <a:spcBef>
                <a:spcPts val="0"/>
              </a:spcBef>
              <a:spcAft>
                <a:spcPts val="0"/>
              </a:spcAft>
              <a:buNone/>
            </a:pPr>
            <a:r>
              <a:t/>
            </a:r>
            <a:endParaRPr/>
          </a:p>
        </p:txBody>
      </p:sp>
      <p:pic>
        <p:nvPicPr>
          <p:cNvPr id="478" name="Google Shape;478;p46" title="modulo_ventas.png"/>
          <p:cNvPicPr preferRelativeResize="0"/>
          <p:nvPr/>
        </p:nvPicPr>
        <p:blipFill>
          <a:blip r:embed="rId3">
            <a:alphaModFix/>
          </a:blip>
          <a:stretch>
            <a:fillRect/>
          </a:stretch>
        </p:blipFill>
        <p:spPr>
          <a:xfrm>
            <a:off x="1808338" y="1597875"/>
            <a:ext cx="5527316" cy="324082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47"/>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Instalar módulo de comercio </a:t>
            </a:r>
            <a:r>
              <a:rPr lang="es"/>
              <a:t>electrónico</a:t>
            </a:r>
            <a:endParaRPr/>
          </a:p>
          <a:p>
            <a:pPr indent="0" lvl="0" marL="0" rtl="0" algn="l">
              <a:spcBef>
                <a:spcPts val="0"/>
              </a:spcBef>
              <a:spcAft>
                <a:spcPts val="0"/>
              </a:spcAft>
              <a:buNone/>
            </a:pPr>
            <a:r>
              <a:t/>
            </a:r>
            <a:endParaRPr/>
          </a:p>
        </p:txBody>
      </p:sp>
      <p:pic>
        <p:nvPicPr>
          <p:cNvPr id="484" name="Google Shape;484;p47" title="Modulo_Comercio_Electronico.png"/>
          <p:cNvPicPr preferRelativeResize="0"/>
          <p:nvPr/>
        </p:nvPicPr>
        <p:blipFill>
          <a:blip r:embed="rId3">
            <a:alphaModFix/>
          </a:blip>
          <a:stretch>
            <a:fillRect/>
          </a:stretch>
        </p:blipFill>
        <p:spPr>
          <a:xfrm>
            <a:off x="1512813" y="1522925"/>
            <a:ext cx="6118373" cy="324082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8"/>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Instalar módulo de calendario</a:t>
            </a:r>
            <a:endParaRPr/>
          </a:p>
          <a:p>
            <a:pPr indent="0" lvl="0" marL="0" rtl="0" algn="l">
              <a:spcBef>
                <a:spcPts val="0"/>
              </a:spcBef>
              <a:spcAft>
                <a:spcPts val="0"/>
              </a:spcAft>
              <a:buNone/>
            </a:pPr>
            <a:r>
              <a:t/>
            </a:r>
            <a:endParaRPr/>
          </a:p>
        </p:txBody>
      </p:sp>
      <p:pic>
        <p:nvPicPr>
          <p:cNvPr id="490" name="Google Shape;490;p48" title="modulo_calendario_reunion.png"/>
          <p:cNvPicPr preferRelativeResize="0"/>
          <p:nvPr/>
        </p:nvPicPr>
        <p:blipFill>
          <a:blip r:embed="rId3">
            <a:alphaModFix/>
          </a:blip>
          <a:stretch>
            <a:fillRect/>
          </a:stretch>
        </p:blipFill>
        <p:spPr>
          <a:xfrm>
            <a:off x="1808338" y="1597875"/>
            <a:ext cx="5527316" cy="324082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49"/>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Instalar módulo de calendario</a:t>
            </a:r>
            <a:endParaRPr/>
          </a:p>
          <a:p>
            <a:pPr indent="0" lvl="0" marL="0" rtl="0" algn="l">
              <a:spcBef>
                <a:spcPts val="0"/>
              </a:spcBef>
              <a:spcAft>
                <a:spcPts val="0"/>
              </a:spcAft>
              <a:buNone/>
            </a:pPr>
            <a:r>
              <a:t/>
            </a:r>
            <a:endParaRPr/>
          </a:p>
        </p:txBody>
      </p:sp>
      <p:pic>
        <p:nvPicPr>
          <p:cNvPr id="496" name="Google Shape;496;p49" title="modulo_calendario_reunion2.png"/>
          <p:cNvPicPr preferRelativeResize="0"/>
          <p:nvPr/>
        </p:nvPicPr>
        <p:blipFill>
          <a:blip r:embed="rId3">
            <a:alphaModFix/>
          </a:blip>
          <a:stretch>
            <a:fillRect/>
          </a:stretch>
        </p:blipFill>
        <p:spPr>
          <a:xfrm>
            <a:off x="1808338" y="1597875"/>
            <a:ext cx="5527316" cy="32408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